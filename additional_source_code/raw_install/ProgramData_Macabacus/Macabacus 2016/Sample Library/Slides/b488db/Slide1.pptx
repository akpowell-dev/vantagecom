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95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604A7B"/>
    <a:srgbClr val="E46C0A"/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1686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D2131-11A8-624F-B15C-310BFFBAA7A2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01A74-2AEA-3A43-8191-493EEEDC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174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2E73C-66FE-4509-B675-AA2DFCB2E49F}" type="datetimeFigureOut">
              <a:rPr lang="en-US" smtClean="0"/>
              <a:t>10/30/2015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1D9D8-6EA9-47A9-A97B-2AFD2497B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38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1D9D8-6EA9-47A9-A97B-2AFD2497B8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9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1" y="2733446"/>
            <a:ext cx="4114800" cy="5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vert="horz" lIns="457200" tIns="45720" rIns="457200" bIns="45720" rtlCol="0" anchor="ctr">
            <a:normAutofit/>
          </a:bodyPr>
          <a:lstStyle>
            <a:lvl1pPr algn="l">
              <a:def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15333"/>
            <a:ext cx="4040188" cy="4034631"/>
          </a:xfrm>
          <a:solidFill>
            <a:schemeClr val="bg1">
              <a:lumMod val="95000"/>
            </a:schemeClr>
          </a:solidFill>
        </p:spPr>
        <p:txBody>
          <a:bodyPr lIns="182880" tIns="182880" rIns="182880" bIns="182880">
            <a:noAutofit/>
          </a:bodyPr>
          <a:lstStyle>
            <a:lvl1pPr marL="22860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sz="1400"/>
            </a:lvl1pPr>
            <a:lvl2pPr marL="457200" indent="-227013">
              <a:defRPr sz="1400"/>
            </a:lvl2pPr>
            <a:lvl3pPr marL="685800" indent="-228600">
              <a:defRPr sz="1400"/>
            </a:lvl3pPr>
            <a:lvl4pPr marL="914400" indent="-228600">
              <a:defRPr sz="1400"/>
            </a:lvl4pPr>
            <a:lvl5pPr marL="1143000" indent="-228600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15333"/>
            <a:ext cx="4041775" cy="4034631"/>
          </a:xfrm>
          <a:solidFill>
            <a:schemeClr val="bg1">
              <a:lumMod val="95000"/>
            </a:schemeClr>
          </a:solidFill>
        </p:spPr>
        <p:txBody>
          <a:bodyPr vert="horz" lIns="182880" tIns="182880" rIns="182880" bIns="182880" rtlCol="0">
            <a:noAutofit/>
          </a:bodyPr>
          <a:lstStyle>
            <a:lvl1pPr marL="287338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"/>
              <a:defRPr lang="en-US" sz="1400" dirty="0" smtClean="0"/>
            </a:lvl1pPr>
            <a:lvl2pPr marL="574675" indent="-227013"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US" sz="1400" dirty="0"/>
            </a:lvl5pPr>
          </a:lstStyle>
          <a:p>
            <a:pPr marL="228600" lvl="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Click to edit Master text styles</a:t>
            </a:r>
          </a:p>
          <a:p>
            <a:pPr marL="457200" lvl="1" indent="-227013"/>
            <a:r>
              <a:rPr lang="en-US" dirty="0" smtClean="0"/>
              <a:t>Second level</a:t>
            </a:r>
          </a:p>
          <a:p>
            <a:pPr marL="685800" lvl="2"/>
            <a:r>
              <a:rPr lang="en-US" dirty="0" smtClean="0"/>
              <a:t>Third level</a:t>
            </a:r>
          </a:p>
          <a:p>
            <a:pPr marL="914400" lvl="3"/>
            <a:r>
              <a:rPr lang="en-US" dirty="0" smtClean="0"/>
              <a:t>Fourth level</a:t>
            </a:r>
          </a:p>
          <a:p>
            <a:pPr marL="1143000"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1"/>
            <a:ext cx="4040188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lIns="0" rIns="0" bIns="18288" anchor="b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76400"/>
            <a:ext cx="4041775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>
            <a:lvl1pPr marL="342900" indent="-342900">
              <a:buNone/>
              <a:defRPr lang="en-US" sz="1400" b="1" smtClean="0">
                <a:latin typeface="+mj-lt"/>
              </a:defRPr>
            </a:lvl1pPr>
          </a:lstStyle>
          <a:p>
            <a:pPr marL="0" lvl="0" indent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7200" y="1066800"/>
            <a:ext cx="8229600" cy="457200"/>
          </a:xfrm>
        </p:spPr>
        <p:txBody>
          <a:bodyPr lIns="0" tIns="45720" rIns="0">
            <a:noAutofit/>
          </a:bodyPr>
          <a:lstStyle>
            <a:lvl1pPr marL="228600" indent="-228600">
              <a:buClr>
                <a:schemeClr val="accent1"/>
              </a:buClr>
              <a:buSzPct val="60000"/>
              <a:buFont typeface="Wingdings 2" panose="05020102010507070707" pitchFamily="18" charset="2"/>
              <a:buChar char=""/>
              <a:defRPr sz="1800"/>
            </a:lvl1pPr>
            <a:lvl2pPr marL="685800" indent="-344488">
              <a:buClr>
                <a:schemeClr val="accent1"/>
              </a:buClr>
              <a:buFont typeface="Wingdings" panose="05000000000000000000" pitchFamily="2" charset="2"/>
              <a:buChar char=""/>
              <a:defRPr sz="2400"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tx1">
              <a:lumMod val="85000"/>
              <a:lumOff val="15000"/>
            </a:schemeClr>
          </a:solidFill>
        </p:spPr>
        <p:txBody>
          <a:bodyPr lIns="457200" rIns="457200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48400"/>
            <a:ext cx="6934200" cy="533400"/>
          </a:xfrm>
        </p:spPr>
        <p:txBody>
          <a:bodyPr lIns="0" tIns="0" rIns="0" bIns="0">
            <a:noAutofit/>
          </a:bodyPr>
          <a:lstStyle>
            <a:lvl1pPr marL="346075" indent="-346075">
              <a:spcBef>
                <a:spcPts val="0"/>
              </a:spcBef>
              <a:buNone/>
              <a:defRPr sz="7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 smtClean="0"/>
              <a:t>Sources &amp; notes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2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ys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 rot="5400000">
            <a:off x="5500299" y="3290499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 rot="16200000">
            <a:off x="-3214300" y="3290498"/>
            <a:ext cx="6858002" cy="276999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>
            <a:lvl1pPr lvl="0" indent="0" algn="ctr">
              <a:spcBef>
                <a:spcPct val="20000"/>
              </a:spcBef>
              <a:buFont typeface="Arial" pitchFamily="34" charset="0"/>
              <a:buNone/>
              <a:defRPr sz="1200" baseline="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indent="0">
              <a:spcBef>
                <a:spcPct val="20000"/>
              </a:spcBef>
              <a:buFont typeface="Arial" pitchFamily="34" charset="0"/>
              <a:buNone/>
              <a:defRPr sz="2800"/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/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/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sz="1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248402"/>
            <a:ext cx="6096000" cy="473074"/>
          </a:xfrm>
        </p:spPr>
        <p:txBody>
          <a:bodyPr lIns="0" tIns="0" rIns="0" bIns="0" anchor="t" anchorCtr="0"/>
          <a:lstStyle>
            <a:lvl1pPr marL="346075" indent="-346075" algn="l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457200" y="617220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57200" y="2743200"/>
            <a:ext cx="8229600" cy="838200"/>
          </a:xfrm>
        </p:spPr>
        <p:txBody>
          <a:bodyPr lIns="0" rIns="0" anchor="ctr" anchorCtr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153400" y="6477000"/>
            <a:ext cx="533400" cy="288925"/>
          </a:xfrm>
          <a:noFill/>
        </p:spPr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94" y="6244330"/>
            <a:ext cx="1216212" cy="1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7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ECEA-2F9C-4E5B-BD93-0C263532B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0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6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Unicorn Problem &amp; Its Implications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Fed up with unicorns, consumers are taking steps to avoid reunification of disjointed and cosmic artifacts irrelevant to most improbable outcomes</a:t>
            </a:r>
            <a:endParaRPr lang="en-US" dirty="0"/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3ECEA-2F9C-4E5B-BD93-0C263532BFD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1" name="Text Placeholder 7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(1)	Imperial Insights Survey, 2013 </a:t>
            </a:r>
          </a:p>
          <a:p>
            <a:r>
              <a:rPr lang="en-US" dirty="0" smtClean="0"/>
              <a:t>(2)	Forrester, January 2013</a:t>
            </a:r>
          </a:p>
          <a:p>
            <a:r>
              <a:rPr lang="en-US" dirty="0" smtClean="0"/>
              <a:t>(3)	Wikipedia website</a:t>
            </a:r>
          </a:p>
          <a:p>
            <a:r>
              <a:rPr lang="en-US" dirty="0" smtClean="0"/>
              <a:t>(4)	Forrester, June 2013</a:t>
            </a:r>
          </a:p>
          <a:p>
            <a:r>
              <a:rPr lang="en-US" dirty="0" smtClean="0"/>
              <a:t>(</a:t>
            </a:r>
            <a:r>
              <a:rPr lang="en-US" dirty="0"/>
              <a:t>5)	</a:t>
            </a:r>
            <a:r>
              <a:rPr lang="en-US" dirty="0" smtClean="0"/>
              <a:t>Gartner </a:t>
            </a:r>
            <a:r>
              <a:rPr lang="en-US" dirty="0"/>
              <a:t>Analytics </a:t>
            </a:r>
            <a:r>
              <a:rPr lang="en-US" dirty="0" smtClean="0"/>
              <a:t>estimate</a:t>
            </a:r>
            <a:endParaRPr lang="en-US" dirty="0"/>
          </a:p>
        </p:txBody>
      </p:sp>
      <p:sp>
        <p:nvSpPr>
          <p:cNvPr id="84" name="Content Placeholder 8"/>
          <p:cNvSpPr>
            <a:spLocks noGrp="1"/>
          </p:cNvSpPr>
          <p:nvPr>
            <p:ph sz="half" idx="2"/>
          </p:nvPr>
        </p:nvSpPr>
        <p:spPr>
          <a:xfrm>
            <a:off x="457200" y="2091533"/>
            <a:ext cx="4040188" cy="3928267"/>
          </a:xfrm>
        </p:spPr>
        <p:txBody>
          <a:bodyPr/>
          <a:lstStyle/>
          <a:p>
            <a:r>
              <a:rPr lang="en-US" dirty="0" smtClean="0"/>
              <a:t>Consumers have little control over watershed hydration while gesticulating</a:t>
            </a:r>
          </a:p>
          <a:p>
            <a:pPr lvl="1"/>
            <a:r>
              <a:rPr lang="en-US" dirty="0" smtClean="0"/>
              <a:t>Apples are harvested surreptitiously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Consumer sentiment is negative on unicorns</a:t>
            </a:r>
          </a:p>
          <a:p>
            <a:pPr lvl="1"/>
            <a:r>
              <a:rPr lang="en-US" dirty="0" smtClean="0"/>
              <a:t>Only </a:t>
            </a:r>
            <a:r>
              <a:rPr lang="en-US" b="1" dirty="0" smtClean="0"/>
              <a:t>10% </a:t>
            </a:r>
            <a:r>
              <a:rPr lang="en-US" dirty="0" smtClean="0"/>
              <a:t>of consumers trust unicorns with medical malpractice</a:t>
            </a:r>
            <a:r>
              <a:rPr lang="en-US" baseline="30000" dirty="0" smtClean="0"/>
              <a:t>(1)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Consumers are opting out to shield themselves</a:t>
            </a:r>
          </a:p>
          <a:p>
            <a:pPr lvl="1"/>
            <a:r>
              <a:rPr lang="en-US" b="1" dirty="0"/>
              <a:t>3</a:t>
            </a:r>
            <a:r>
              <a:rPr lang="en-US" b="1" dirty="0" smtClean="0"/>
              <a:t>0 million </a:t>
            </a:r>
            <a:r>
              <a:rPr lang="en-US" dirty="0" smtClean="0"/>
              <a:t>flashes in the pan and growing at </a:t>
            </a:r>
            <a:r>
              <a:rPr lang="en-US" b="1" dirty="0" smtClean="0"/>
              <a:t>7%</a:t>
            </a:r>
            <a:r>
              <a:rPr lang="en-US" dirty="0" smtClean="0"/>
              <a:t> per month</a:t>
            </a:r>
            <a:r>
              <a:rPr lang="en-US" baseline="30000" dirty="0" smtClean="0"/>
              <a:t>(2)</a:t>
            </a:r>
            <a:endParaRPr lang="en-US" b="1" baseline="30000" dirty="0" smtClean="0"/>
          </a:p>
          <a:p>
            <a:pPr lvl="1"/>
            <a:r>
              <a:rPr lang="en-US" dirty="0" smtClean="0"/>
              <a:t>Lehman Brothers reports more than </a:t>
            </a:r>
            <a:r>
              <a:rPr lang="en-US" b="1" dirty="0" smtClean="0"/>
              <a:t>50 million </a:t>
            </a:r>
            <a:r>
              <a:rPr lang="en-US" dirty="0" smtClean="0"/>
              <a:t>users and 80 million typhoons</a:t>
            </a:r>
            <a:r>
              <a:rPr lang="en-US" baseline="30000" dirty="0" smtClean="0"/>
              <a:t>(3)</a:t>
            </a:r>
            <a:endParaRPr lang="en-US" dirty="0" smtClean="0"/>
          </a:p>
          <a:p>
            <a:pPr lvl="1"/>
            <a:r>
              <a:rPr lang="en-US" b="1" dirty="0" smtClean="0"/>
              <a:t>68% </a:t>
            </a:r>
            <a:r>
              <a:rPr lang="en-US" dirty="0" smtClean="0"/>
              <a:t>of culinary students would use a harnessing technology in the bathroom</a:t>
            </a:r>
            <a:r>
              <a:rPr lang="en-US" baseline="30000" dirty="0" smtClean="0"/>
              <a:t>(1)</a:t>
            </a: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en-US" dirty="0" smtClean="0"/>
              <a:t>New technologies and legislation aim to provide greater reduction in increases</a:t>
            </a:r>
            <a:endParaRPr lang="en-US" dirty="0"/>
          </a:p>
        </p:txBody>
      </p:sp>
      <p:sp>
        <p:nvSpPr>
          <p:cNvPr id="85" name="Content Placeholder 10"/>
          <p:cNvSpPr>
            <a:spLocks noGrp="1"/>
          </p:cNvSpPr>
          <p:nvPr>
            <p:ph sz="quarter" idx="4"/>
          </p:nvPr>
        </p:nvSpPr>
        <p:spPr>
          <a:xfrm>
            <a:off x="4645025" y="2091533"/>
            <a:ext cx="4041775" cy="3928267"/>
          </a:xfrm>
          <a:solidFill>
            <a:schemeClr val="bg1">
              <a:lumMod val="95000"/>
            </a:schemeClr>
          </a:solidFill>
        </p:spPr>
        <p:txBody>
          <a:bodyPr vert="horz" lIns="182880" tIns="182880" rIns="182880" bIns="182880" rtlCol="0">
            <a:noAutofit/>
          </a:bodyPr>
          <a:lstStyle/>
          <a:p>
            <a:pPr marL="228600" indent="-228600"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b="1" dirty="0" smtClean="0"/>
              <a:t>10%</a:t>
            </a:r>
            <a:r>
              <a:rPr lang="en-US" dirty="0" smtClean="0"/>
              <a:t> of all attempts are thwarted</a:t>
            </a:r>
            <a:r>
              <a:rPr lang="en-US" baseline="30000" dirty="0" smtClean="0"/>
              <a:t>(4)</a:t>
            </a:r>
          </a:p>
          <a:p>
            <a:pPr marL="457200" lvl="1" indent="-227013"/>
            <a:r>
              <a:rPr lang="en-US" dirty="0" smtClean="0"/>
              <a:t>Some precincts report </a:t>
            </a:r>
            <a:r>
              <a:rPr lang="en-US" b="1" dirty="0" smtClean="0"/>
              <a:t>30%+ </a:t>
            </a:r>
            <a:r>
              <a:rPr lang="en-US" dirty="0" smtClean="0"/>
              <a:t>of traffic driving on the sidewalk</a:t>
            </a:r>
            <a:r>
              <a:rPr lang="en-US" baseline="30000" dirty="0" smtClean="0"/>
              <a:t>(4)</a:t>
            </a:r>
          </a:p>
          <a:p>
            <a:pPr marL="228600" indent="-228600">
              <a:spcBef>
                <a:spcPts val="6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Web publishers are seeing declining revenue from submergence of jewelry</a:t>
            </a:r>
          </a:p>
          <a:p>
            <a:pPr marL="457200" lvl="1" indent="-227013"/>
            <a:r>
              <a:rPr lang="en-US" dirty="0" smtClean="0"/>
              <a:t>QAZ 10-K:  </a:t>
            </a:r>
            <a:r>
              <a:rPr lang="en-US" i="1" dirty="0" smtClean="0"/>
              <a:t>“We may also be adversely affected if the use of unicorns developed to </a:t>
            </a:r>
            <a:r>
              <a:rPr lang="en-US" i="1" u="sng" dirty="0" smtClean="0"/>
              <a:t>infiltrate the display of timelines</a:t>
            </a:r>
            <a:r>
              <a:rPr lang="en-US" i="1" dirty="0" smtClean="0"/>
              <a:t> on Gantt charts proliferates”</a:t>
            </a:r>
          </a:p>
          <a:p>
            <a:pPr marL="228600" indent="-228600">
              <a:spcBef>
                <a:spcPts val="6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Sanitization has resulted in </a:t>
            </a:r>
            <a:r>
              <a:rPr lang="en-US" b="1" dirty="0" smtClean="0"/>
              <a:t>$5 billion </a:t>
            </a:r>
            <a:r>
              <a:rPr lang="en-US" dirty="0" smtClean="0"/>
              <a:t>of lost filth for the industry</a:t>
            </a:r>
            <a:r>
              <a:rPr lang="en-US" baseline="30000" dirty="0" smtClean="0"/>
              <a:t>(5)</a:t>
            </a:r>
          </a:p>
          <a:p>
            <a:pPr marL="228600" indent="-228600">
              <a:spcBef>
                <a:spcPts val="600"/>
              </a:spcBef>
              <a:buClr>
                <a:schemeClr val="accent1"/>
              </a:buClr>
              <a:buSzPct val="65000"/>
              <a:buFont typeface="Wingdings 2" panose="05020102010507070707" pitchFamily="18" charset="2"/>
              <a:buChar char="¦"/>
            </a:pPr>
            <a:r>
              <a:rPr lang="en-US" dirty="0" smtClean="0"/>
              <a:t>With consumers saying “no” to unicorns, linear algorithms will become curved and more expensive to mathematicians and grocers that rely on such shenanigans</a:t>
            </a:r>
            <a:endParaRPr lang="en-US" dirty="0"/>
          </a:p>
        </p:txBody>
      </p:sp>
      <p:sp>
        <p:nvSpPr>
          <p:cNvPr id="86" name="Text Placeholder 7"/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4040188" cy="338933"/>
          </a:xfrm>
        </p:spPr>
        <p:txBody>
          <a:bodyPr/>
          <a:lstStyle/>
          <a:p>
            <a:r>
              <a:rPr lang="en-US" dirty="0" smtClean="0"/>
              <a:t>Consumers</a:t>
            </a:r>
            <a:endParaRPr lang="en-US" dirty="0"/>
          </a:p>
        </p:txBody>
      </p:sp>
      <p:sp>
        <p:nvSpPr>
          <p:cNvPr id="87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4645025" y="1752600"/>
            <a:ext cx="4041775" cy="338933"/>
          </a:xfrm>
          <a:solidFill>
            <a:schemeClr val="bg1"/>
          </a:solidFill>
          <a:ln w="19050">
            <a:noFill/>
          </a:ln>
          <a:effectLst>
            <a:outerShdw dist="25400" dir="5400000" algn="t" rotWithShape="0">
              <a:prstClr val="black"/>
            </a:outerShdw>
          </a:effectLst>
        </p:spPr>
        <p:txBody>
          <a:bodyPr vert="horz" lIns="0" tIns="45720" rIns="0" bIns="18288" rtlCol="0" anchor="b">
            <a:noAutofit/>
          </a:bodyPr>
          <a:lstStyle/>
          <a:p>
            <a:pPr marL="0" indent="0">
              <a:buNone/>
            </a:pPr>
            <a:r>
              <a:rPr lang="en-US" smtClean="0"/>
              <a:t>Unicorns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24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4cd7c72293fd4efb9e6d8b09d8b128b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140202</TotalTime>
  <Words>221</Words>
  <Application>Microsoft Office PowerPoint</Application>
  <PresentationFormat>On-screen Show (4:3)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Wingdings 2</vt:lpstr>
      <vt:lpstr>Office Theme</vt:lpstr>
      <vt:lpstr>The Unicorn Problem &amp; Its Implications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Macabacus, LLC</dc:creator>
  <cp:lastModifiedBy>Ryan MacGregor</cp:lastModifiedBy>
  <cp:revision>337</cp:revision>
  <cp:lastPrinted>2013-12-03T23:37:52Z</cp:lastPrinted>
  <dcterms:created xsi:type="dcterms:W3CDTF">2013-02-20T06:19:10Z</dcterms:created>
  <dcterms:modified xsi:type="dcterms:W3CDTF">2015-10-30T17:34:43Z</dcterms:modified>
</cp:coreProperties>
</file>